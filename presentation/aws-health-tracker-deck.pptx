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AWS Health Notifications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51760"/>
            <a:ext cx="914400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Centralized Visibility &amp; AI-Powered Insights for 200+ Account AWS Organizations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00"/>
                </a:solidFill>
              </a:rPr>
              <a:t>Demo Presentation  |  USPTO AWS Innovation Team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5852160"/>
            <a:ext cx="2286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5897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Powered by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Managing AWS Health events at scale across a large AWS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64008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34440"/>
            <a:ext cx="114300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F3E"/>
                </a:solidFill>
              </a:rPr>
              <a:t>Missed Deadlines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Critical maintenance windows and deprecation notices are buried in 200 individual account dashboards. There is no organization-wide view, so teams regularly miss required 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60320"/>
            <a:ext cx="64008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560320"/>
            <a:ext cx="114300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F3E"/>
                </a:solidFill>
              </a:rPr>
              <a:t>Manual, Fragmented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Operations teams must manually check each account in the AWS Console. Spreadsheets used to track follow-up status become stale within hours and have no ownership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64008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886200"/>
            <a:ext cx="114300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2F3E"/>
                </a:solidFill>
              </a:rPr>
              <a:t>No Prioritization or AI Assistance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Raw AWS Health events contain dense technical text with no plain-English summary. Teams cannot distinguish Critical from Low urgency at a glance, and there is no automated action recommendation.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03520"/>
            <a:ext cx="114300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30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Result: Compliance risk, reactive operations, and engineer burnout from manual account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Solution: AWS Health Notifications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Automated collection  •  AI summarization  •  Deadline tracking  •  Follow-up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61872"/>
            <a:ext cx="22860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61872"/>
            <a:ext cx="2286000" cy="4572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984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Automated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212140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EventBridge triggers Health Collector Lambda every 15 minutes. AWS Organizations Health API aggregates events from all 200 accounts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261872"/>
            <a:ext cx="22860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261872"/>
            <a:ext cx="2286000" cy="4572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2984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Summarization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83080"/>
            <a:ext cx="212140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Amazon Bedrock (Claude Haiku) converts raw AWS API events into plain-English summaries, step-by-step action items, urgency scores, and extracted deadlines.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261872"/>
            <a:ext cx="22860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261872"/>
            <a:ext cx="2286000" cy="457200"/>
          </a:xfrm>
          <a:prstGeom prst="rect">
            <a:avLst/>
          </a:prstGeom>
          <a:solidFill>
            <a:srgbClr val="1A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2984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Centralized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783080"/>
            <a:ext cx="212140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React SPA on CloudFront shows stats cards, service/urgency charts, sortable event list, and deadline countdowns — all accounts in a single 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261872"/>
            <a:ext cx="22860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261872"/>
            <a:ext cx="228600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2984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Proactive Reminders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783080"/>
            <a:ext cx="212140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Daily SNS email digest for events with deadlines within 7 days. Critical events re-escalate at 3 days remaining.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261872"/>
            <a:ext cx="22860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1261872"/>
            <a:ext cx="2286000" cy="4572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29844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Follow-up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783080"/>
            <a:ext cx="212140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Per-event owner assignment, status tracking (Pending / In Progress / Resolved), and free-text notes — persisted to DynamoDB and visible org-wide.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Serverless  •  FedRAMP Authorized  •  us-east-1  •  ~$10–15/month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98448"/>
            <a:ext cx="1828800" cy="5943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44168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EventBridge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61848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rate(15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545336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298448"/>
            <a:ext cx="18288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344168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health-collector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61848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Lambda  Python 3.12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545336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1298448"/>
            <a:ext cx="1828800" cy="594360"/>
          </a:xfrm>
          <a:prstGeom prst="rect">
            <a:avLst/>
          </a:prstGeom>
          <a:solidFill>
            <a:srgbClr val="1A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344168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DynamoDB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61848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HealthEvents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545336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1298448"/>
            <a:ext cx="18288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1344168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llm-summarizer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161848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Lambda  Python 3.12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545336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298448"/>
            <a:ext cx="1828800" cy="5943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344168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Amazon Bedrock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161848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Claude Haiku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1892808"/>
            <a:ext cx="73152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1396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DynamoDB Streams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1892808"/>
            <a:ext cx="73152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2404872"/>
            <a:ext cx="1828800" cy="594360"/>
          </a:xfrm>
          <a:prstGeom prst="rect">
            <a:avLst/>
          </a:prstGeom>
          <a:solidFill>
            <a:srgbClr val="567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32888" y="245059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S3 Archive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8" y="27249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Raw event 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404872"/>
            <a:ext cx="1828800" cy="5943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245059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EventBridge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27249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cron(0 9 * * ?)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2651760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60" y="2404872"/>
            <a:ext cx="18288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245059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deadline-reminder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27249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Lambda  Python 3.12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2651760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49440" y="2404872"/>
            <a:ext cx="1828800" cy="594360"/>
          </a:xfrm>
          <a:prstGeom prst="rect">
            <a:avLst/>
          </a:prstGeom>
          <a:solidFill>
            <a:srgbClr val="E85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3448" y="245059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SNS Topic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27249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Email digest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2999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API reads from DynamoDB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3401568"/>
            <a:ext cx="73152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60" y="3273552"/>
            <a:ext cx="18288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73168" y="3319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api-handler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359359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Lambda  Python 3.12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3520440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3273552"/>
            <a:ext cx="1828800" cy="5943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13448" y="3319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3448" y="359359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HTTP API (open)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3520440"/>
            <a:ext cx="411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89720" y="3273552"/>
            <a:ext cx="1828800" cy="594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3728" y="3319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CloudFront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3728" y="359359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900"/>
                </a:solidFill>
              </a:rPr>
              <a:t>React SPA + S3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41605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2F3E"/>
                </a:solidFill>
              </a:rPr>
              <a:t>Users (browser)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04120" y="3867912"/>
            <a:ext cx="73152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8600" y="6144768"/>
            <a:ext cx="201168" cy="2011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EventBridge Scheduler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48840" y="6144768"/>
            <a:ext cx="201168" cy="20116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9572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Lambda Functions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9080" y="6144768"/>
            <a:ext cx="201168" cy="201168"/>
          </a:xfrm>
          <a:prstGeom prst="rect">
            <a:avLst/>
          </a:prstGeom>
          <a:solidFill>
            <a:srgbClr val="1A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1596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DynamoDB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6144768"/>
            <a:ext cx="201168" cy="20116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3620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CloudFront / S3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09560" y="6144768"/>
            <a:ext cx="201168" cy="201168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5644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API Gateway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29800" y="6144768"/>
            <a:ext cx="201168" cy="201168"/>
          </a:xfrm>
          <a:prstGeom prst="rect">
            <a:avLst/>
          </a:prstGeom>
          <a:solidFill>
            <a:srgbClr val="E85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76688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AWS Services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All FedRAMP Authorized  •  us-east-1 commercial  •  No NAT Gateways, no always-on EC2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01168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234440"/>
            <a:ext cx="635508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6584" y="1280160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234440"/>
            <a:ext cx="18288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FedRAMP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234440"/>
            <a:ext cx="132588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1904" y="1280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Est./mo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20116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4592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AWS Health API (Orgs)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1581912"/>
            <a:ext cx="63550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6584" y="1645920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Source of all health events across all 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581912"/>
            <a:ext cx="182880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7384" y="164592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1581912"/>
            <a:ext cx="13258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1645920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~$0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75104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03911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Lambda (x4)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1975104"/>
            <a:ext cx="6355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6584" y="2039112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health-collector, llm-summarizer, deadline-reminder, api-handler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975104"/>
            <a:ext cx="18288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7384" y="203911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1975104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61904" y="2039112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~$1–2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368296"/>
            <a:ext cx="20116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2432304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DynamoDB (on-demand)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2368296"/>
            <a:ext cx="63550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86584" y="2432304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Primary store — events, status, follow-up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2368296"/>
            <a:ext cx="182880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243230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2368296"/>
            <a:ext cx="13258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61904" y="2432304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~$5–10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761488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282549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Amazon Bedrock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20" y="2761488"/>
            <a:ext cx="6355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6584" y="2825496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Claude Haiku — plain-English summaries &amp; action extraction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2761488"/>
            <a:ext cx="18288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7384" y="282549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07040" y="2761488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61904" y="282549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~$1–2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154680"/>
            <a:ext cx="20116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321868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S3 (x2 buckets)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3154680"/>
            <a:ext cx="63550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86584" y="3218688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Raw event archive + React SPA static assets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3154680"/>
            <a:ext cx="182880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87384" y="32186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07040" y="3154680"/>
            <a:ext cx="13258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61904" y="3218688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&lt;$1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547872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361188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CloudFront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31720" y="3547872"/>
            <a:ext cx="6355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86584" y="3611880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CDN for React SPA with Origin Access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32520" y="3547872"/>
            <a:ext cx="18288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87384" y="361188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3547872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61904" y="3611880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&lt;$1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41064"/>
            <a:ext cx="20116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9184" y="400507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API Gateway HTTP API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31720" y="3941064"/>
            <a:ext cx="63550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86584" y="4005072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REST backend for the React frontend (no auth required)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32520" y="3941064"/>
            <a:ext cx="182880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87384" y="400507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3941064"/>
            <a:ext cx="13258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61904" y="4005072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~$1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334256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" y="4398264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EventBridge Scheduler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31720" y="4334256"/>
            <a:ext cx="6355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86584" y="4398264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rate(15 min) for collector + cron(09:00 UTC) for reminders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4334256"/>
            <a:ext cx="18288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87384" y="439826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4334256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61904" y="4398264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&lt;$1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4727448"/>
            <a:ext cx="20116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4" y="479145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31720" y="4727448"/>
            <a:ext cx="63550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86584" y="4791456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Deadline alert email digests to the ops team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732520" y="4727448"/>
            <a:ext cx="182880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87384" y="479145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0" y="4727448"/>
            <a:ext cx="1325880" cy="393192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661904" y="479145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&lt;$1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9184" y="518464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CloudWatch Logs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31720" y="5120640"/>
            <a:ext cx="6355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86584" y="5184648"/>
            <a:ext cx="6263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All Lambda logs with 30-day retention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32520" y="5120640"/>
            <a:ext cx="18288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87384" y="51846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E4C"/>
                </a:solidFill>
              </a:rPr>
              <a:t>FedRAMP Auth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07040" y="5120640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61904" y="5184648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&lt;$1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605272"/>
            <a:ext cx="11612880" cy="38404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5641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Total estimated monthly cost at steady state (50K events, 200 accounts, 500 Bedrock calls):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0" y="5641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9900"/>
                </a:solidFill>
              </a:rPr>
              <a:t>~$10–15 /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Real-time stats, urgency charts, and upcoming critical deadlines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Stats cards  •  Events by Service bar chart  •  Events by Urgency chart  •  Top critical events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Notifications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All 200 accounts in one sortable, searchable table — with deadline countdowns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pic>
        <p:nvPicPr>
          <p:cNvPr id="9" name="Picture 8" descr="02_notification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Search  •  Filter by Service / Urgency / Status / Account  •  Deadline countdown  • 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Intelligent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Instantly surface Critical events across all accounts — filter by any 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pic>
        <p:nvPicPr>
          <p:cNvPr id="9" name="Picture 8" descr="03_notification_list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Filter to Critical urgency — all accounts — sorted by soonest deadline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AI-Generated Event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Amazon Bedrock (Claude Haiku) turns raw Health API events into actionable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pic>
        <p:nvPicPr>
          <p:cNvPr id="9" name="Picture 8" descr="04_notific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89520" y="1207008"/>
            <a:ext cx="4343400" cy="11887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280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Plain-English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27632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2–3 sentence stakeholder-ready description generated by Claude Haiku via Amazon Bedrock.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468880"/>
            <a:ext cx="4343400" cy="1188720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420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89504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3–5 specific, step-by-step action items extracted from the raw event description.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730752"/>
            <a:ext cx="43434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8039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Urgency + Deadline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51376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Auto-classified: Critical / High / Medium / Low. Deadline extracted in ISO 8601 format.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992624"/>
            <a:ext cx="4343400" cy="11887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50657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Follow-up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413248"/>
            <a:ext cx="4114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Assign an owner, set status (Pending / In Progress / Resolved), add notes. Saved to DynamoDB.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FedRAMP Authorized services only  •  IAM least-privilege  •  No data leaves us-east-1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9144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1147572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07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FedRAMP Authorized Services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Every AWS service used — Lambda, DynamoDB, S3, CloudFront, API Gateway, Bedrock, EventBridge, SNS, CloudWatch — is FedRAMP Authorized in us-east-1 commercial.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67711"/>
            <a:ext cx="9144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67711"/>
            <a:ext cx="1147572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4086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IAM Least-Privilege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6090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Each of the four Lambda functions has a dedicated IAM execution role scoped to only the exact actions and resources it requires. No wildcard actions, no shared roles.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00982"/>
            <a:ext cx="9144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00982"/>
            <a:ext cx="1147572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7413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Encryption at Rest &amp; in 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9417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DynamoDB tables encrypted with AWS-managed keys. S3 buckets use S3-managed encryption. All API traffic uses TLS 1.2+. CloudFront enforces HTTPS redirect.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34253"/>
            <a:ext cx="9144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34253"/>
            <a:ext cx="1147572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0740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No Public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2744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S3 frontend bucket is private — served exclusively through CloudFront with Origin Access Control. Archive S3 bucket blocks all public access. No public DynamoDB endpoints.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67524"/>
            <a:ext cx="9144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367524"/>
            <a:ext cx="1147572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406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Audit &amp;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All Lambda invocations log to CloudWatch with 30-day retention. DynamoDB Point-in-Time Recovery enabled. EventBridge Scheduler retries failed Lambda invocations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</a:rPr>
              <a:t>Phase 2 enhancements to further reduce operational toil for USPTO cloud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AWS Health Notifications Tracker  |  USPTO AWS Innovation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3840480" cy="438912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307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  — 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3840480" cy="45262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38528"/>
            <a:ext cx="109728" cy="109728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Automated event collection across all 200 accounts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0088"/>
            <a:ext cx="109728" cy="109728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AI summaries and action items via Amazon Bedrock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41648"/>
            <a:ext cx="109728" cy="109728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931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React dashboard: stats, filtering, search, CSV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093208"/>
            <a:ext cx="109728" cy="109728"/>
          </a:xfrm>
          <a:prstGeom prst="rect">
            <a:avLst/>
          </a:prstGeom>
          <a:solidFill>
            <a:srgbClr val="1E8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Follow-up ownership tracking with deadline reminders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261872"/>
            <a:ext cx="3840480" cy="4389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307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 —  Near-term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700784"/>
            <a:ext cx="3840480" cy="45262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1938528"/>
            <a:ext cx="109728" cy="10972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Slack / Teams integration for real-time 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990088"/>
            <a:ext cx="109728" cy="10972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ServiceNow ticketing — auto-create incident for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4041648"/>
            <a:ext cx="109728" cy="10972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931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Cognito / SSO authentication when federation 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5093208"/>
            <a:ext cx="109728" cy="10972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Multi-region failover support (us-west-2)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1261872"/>
            <a:ext cx="3840480" cy="43891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307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  —  Strategic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6" y="1700784"/>
            <a:ext cx="3840480" cy="45262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03336" y="1938528"/>
            <a:ext cx="10972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1828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AWS Systems Manager automated remediation runbooks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03336" y="2990088"/>
            <a:ext cx="10972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13648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Account tag-based team ownership routing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3336" y="4041648"/>
            <a:ext cx="10972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3931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Historical trend analysis via Bedrock insights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3336" y="5093208"/>
            <a:ext cx="10972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4983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USPTO ITSM / CMDB integration for asset correlation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Repository: github.com/saspto/aws-health-notifications-tracker     Live app: https://d2vuz8nfxuvkbe.cloudfront.net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