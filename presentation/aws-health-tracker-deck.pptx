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</a:rPr>
              <a:t>AWS Health Notifications Tracker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880360"/>
            <a:ext cx="8229600" cy="64008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0632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CCCCCC"/>
                </a:solidFill>
              </a:rPr>
              <a:t>Centralized Visibility &amp; Actionable Intelligence for 200+ Account AWS Organizations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2062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9900"/>
                </a:solidFill>
              </a:rPr>
              <a:t>Demo  |  USPTO AWS Innovation Team  |  April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9692640" y="5943600"/>
            <a:ext cx="2103120" cy="64008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38360" y="5961888"/>
            <a:ext cx="2011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Powered by AWS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The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9900"/>
                </a:solidFill>
              </a:rPr>
              <a:t>Managing AWS Health at scale across a large AWS Organization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97280"/>
            <a:ext cx="12188952" cy="54864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AAAA"/>
                </a:solidFill>
              </a:rPr>
              <a:t>AWS Health Notifications Tracker  |  USPTO AWS Innovation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AAAAAA"/>
                </a:solidFill>
              </a:rPr>
              <a:t>CONFIDENTIAL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325880"/>
            <a:ext cx="11338560" cy="1234440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43560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32F3E"/>
                </a:solidFill>
              </a:rPr>
              <a:t>⚠  Missed Deadlines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7830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</a:rPr>
              <a:t>Critical maintenance windows and deprecation deadlines buried in individual account dashboards — no org-wide view means teams miss required actions.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697480"/>
            <a:ext cx="11338560" cy="1234440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80720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32F3E"/>
                </a:solidFill>
              </a:rPr>
              <a:t>📋  Manual, Fragmented Tracking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1546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</a:rPr>
              <a:t>Operations teams manually check 200+ accounts in the AWS Console. Spreadsheets used to track follow-up status become stale within hours.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069080"/>
            <a:ext cx="11338560" cy="1234440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417880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32F3E"/>
                </a:solidFill>
              </a:rPr>
              <a:t>🔇  No Prioritization or Intelligence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5262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</a:rPr>
              <a:t>Raw AWS Health events lack context. Teams cannot distinguish Critical from Low urgency without reading every event in full — and there is no owner assignment workflow.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989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D13F28"/>
                </a:solidFill>
              </a:rPr>
              <a:t>Result: Compliance risk, reactive operations, and engineer burnout from manual monitoring.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Solution: AWS Health Notifications Tracker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9900"/>
                </a:solidFill>
              </a:rPr>
              <a:t>Automated aggregation · AI summarization · Deadline tracking · Follow-up workflow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97280"/>
            <a:ext cx="12188952" cy="54864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AAAA"/>
                </a:solidFill>
              </a:rPr>
              <a:t>AWS Health Notifications Tracker  |  USPTO AWS Innovation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AAAAAA"/>
                </a:solidFill>
              </a:rPr>
              <a:t>CONFIDENTIAL</a:t>
            </a:r>
          </a:p>
        </p:txBody>
      </p:sp>
      <p:sp>
        <p:nvSpPr>
          <p:cNvPr id="9" name="Rectangle 8"/>
          <p:cNvSpPr/>
          <p:nvPr/>
        </p:nvSpPr>
        <p:spPr>
          <a:xfrm>
            <a:off x="228600" y="1325880"/>
            <a:ext cx="224028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28600" y="1325880"/>
            <a:ext cx="2240280" cy="41148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1353312"/>
            <a:ext cx="2057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9900"/>
                </a:solidFill>
              </a:rPr>
              <a:t>🔄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1828800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32F3E"/>
                </a:solidFill>
              </a:rPr>
              <a:t>Automated Collection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" y="2304288"/>
            <a:ext cx="2057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EventBridge triggers Health Collector Lambda every 15 min across all 200 accounts via AWS Organizations Health API.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06040" y="1325880"/>
            <a:ext cx="224028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606040" y="1325880"/>
            <a:ext cx="2240280" cy="41148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97480" y="1353312"/>
            <a:ext cx="2057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9900"/>
                </a:solidFill>
              </a:rPr>
              <a:t>🤖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1828800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32F3E"/>
                </a:solidFill>
              </a:rPr>
              <a:t>AI Summarization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2304288"/>
            <a:ext cx="2057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Amazon Bedrock (Claude Haiku) converts raw events into plain-English summaries, action items, and urgency scores.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83480" y="1325880"/>
            <a:ext cx="224028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83480" y="1325880"/>
            <a:ext cx="2240280" cy="41148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74920" y="1353312"/>
            <a:ext cx="2057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9900"/>
                </a:solidFill>
              </a:rPr>
              <a:t>📊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1828800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32F3E"/>
                </a:solidFill>
              </a:rPr>
              <a:t>Centralized Dashboard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74920" y="2304288"/>
            <a:ext cx="2057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React SPA served via CloudFront shows stats, sortable/filterable event list, and deadline countdowns.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60920" y="1325880"/>
            <a:ext cx="224028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60920" y="1325880"/>
            <a:ext cx="2240280" cy="41148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52360" y="1353312"/>
            <a:ext cx="2057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9900"/>
                </a:solidFill>
              </a:rPr>
              <a:t>🔔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2360" y="1828800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32F3E"/>
                </a:solidFill>
              </a:rPr>
              <a:t>Proactive Reminders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52360" y="2304288"/>
            <a:ext cx="2057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Daily SNS digest emails for deadlines within 7 days — Critical events escalate at 3 days.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738360" y="1325880"/>
            <a:ext cx="224028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738360" y="1325880"/>
            <a:ext cx="2240280" cy="41148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29800" y="1353312"/>
            <a:ext cx="2057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9900"/>
                </a:solidFill>
              </a:rPr>
              <a:t>✅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29800" y="1828800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32F3E"/>
                </a:solidFill>
              </a:rPr>
              <a:t>Follow-up Workflow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800" y="2304288"/>
            <a:ext cx="2057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Per-event owner assignment, status tracking (Pending → In Progress → Resolved), and notes — all persisted in DynamoDB.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9900"/>
                </a:solidFill>
              </a:rPr>
              <a:t>Serverless · FedRAMP Authorized · us-east-1 · ~$10–15/month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97280"/>
            <a:ext cx="12188952" cy="54864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AAAA"/>
                </a:solidFill>
              </a:rPr>
              <a:t>AWS Health Notifications Tracker  |  USPTO AWS Innovation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AAAAAA"/>
                </a:solidFill>
              </a:rPr>
              <a:t>CONFIDENTIAL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371600"/>
            <a:ext cx="1691640" cy="658368"/>
          </a:xfrm>
          <a:prstGeom prst="rect">
            <a:avLst/>
          </a:prstGeom>
          <a:solidFill>
            <a:srgbClr val="7B2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9184" y="1426464"/>
            <a:ext cx="15819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EventBridge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" y="1719072"/>
            <a:ext cx="1581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FF9900"/>
                </a:solidFill>
              </a:rPr>
              <a:t>rate(15 min)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2743200"/>
            <a:ext cx="1691640" cy="658368"/>
          </a:xfrm>
          <a:prstGeom prst="rect">
            <a:avLst/>
          </a:prstGeom>
          <a:solidFill>
            <a:srgbClr val="7B2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9184" y="2798064"/>
            <a:ext cx="15819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EventBridge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" y="3090672"/>
            <a:ext cx="1581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FF9900"/>
                </a:solidFill>
              </a:rPr>
              <a:t>cron(0 9 * * ?)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31720" y="1371600"/>
            <a:ext cx="1691640" cy="658368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86584" y="1426464"/>
            <a:ext cx="15819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health-collector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86584" y="1719072"/>
            <a:ext cx="1581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FF9900"/>
                </a:solidFill>
              </a:rPr>
              <a:t>Lambda Python 3.12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31720" y="2743200"/>
            <a:ext cx="1691640" cy="658368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386584" y="2798064"/>
            <a:ext cx="15819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deadline-reminder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86584" y="3090672"/>
            <a:ext cx="1581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FF9900"/>
                </a:solidFill>
              </a:rPr>
              <a:t>Lambda Python 3.12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0" y="1920240"/>
            <a:ext cx="1691640" cy="658368"/>
          </a:xfrm>
          <a:prstGeom prst="rect">
            <a:avLst/>
          </a:prstGeom>
          <a:solidFill>
            <a:srgbClr val="1A5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26864" y="1975104"/>
            <a:ext cx="15819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DynamoDB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26864" y="2267712"/>
            <a:ext cx="1581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FF9900"/>
                </a:solidFill>
              </a:rPr>
              <a:t>HealthEvents table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75120" y="1371600"/>
            <a:ext cx="1691640" cy="658368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29984" y="1426464"/>
            <a:ext cx="15819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llm-summarizer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29984" y="1719072"/>
            <a:ext cx="1581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FF9900"/>
                </a:solidFill>
              </a:rPr>
              <a:t>Lambda Python 3.12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686800" y="1371600"/>
            <a:ext cx="1691640" cy="658368"/>
          </a:xfrm>
          <a:prstGeom prst="rect">
            <a:avLst/>
          </a:prstGeom>
          <a:solidFill>
            <a:srgbClr val="7B2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41664" y="1426464"/>
            <a:ext cx="15819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Amazon Bedrock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41664" y="1719072"/>
            <a:ext cx="1581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FF9900"/>
                </a:solidFill>
              </a:rPr>
              <a:t>Claude Haiku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0" y="3200400"/>
            <a:ext cx="1691640" cy="658368"/>
          </a:xfrm>
          <a:prstGeom prst="rect">
            <a:avLst/>
          </a:prstGeom>
          <a:solidFill>
            <a:srgbClr val="E85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26864" y="3255264"/>
            <a:ext cx="15819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SNS Topic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26864" y="3547872"/>
            <a:ext cx="1581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FF9900"/>
                </a:solidFill>
              </a:rPr>
              <a:t>Email digest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331720" y="4389120"/>
            <a:ext cx="1691640" cy="658368"/>
          </a:xfrm>
          <a:prstGeom prst="rect">
            <a:avLst/>
          </a:prstGeom>
          <a:solidFill>
            <a:srgbClr val="567B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386584" y="4443984"/>
            <a:ext cx="15819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S3 Archive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86584" y="4736592"/>
            <a:ext cx="1581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FF9900"/>
                </a:solidFill>
              </a:rPr>
              <a:t>Raw event JSON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686800" y="3200400"/>
            <a:ext cx="1691640" cy="658368"/>
          </a:xfrm>
          <a:prstGeom prst="rect">
            <a:avLst/>
          </a:prstGeom>
          <a:solidFill>
            <a:srgbClr val="005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741664" y="3255264"/>
            <a:ext cx="15819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React SPA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41664" y="3547872"/>
            <a:ext cx="1581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FF9900"/>
                </a:solidFill>
              </a:rPr>
              <a:t>CloudFront + S3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86800" y="4206240"/>
            <a:ext cx="1691640" cy="658368"/>
          </a:xfrm>
          <a:prstGeom prst="rect">
            <a:avLst/>
          </a:prstGeom>
          <a:solidFill>
            <a:srgbClr val="A052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741664" y="4261104"/>
            <a:ext cx="15819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API Gateway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741664" y="4553712"/>
            <a:ext cx="1581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FF9900"/>
                </a:solidFill>
              </a:rPr>
              <a:t>HTTP API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675120" y="4206240"/>
            <a:ext cx="1691640" cy="658368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729984" y="4261104"/>
            <a:ext cx="15819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api-handler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29984" y="4553712"/>
            <a:ext cx="1581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FF9900"/>
                </a:solidFill>
              </a:rPr>
              <a:t>Lambda Python 3.12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332720" y="3200400"/>
            <a:ext cx="1463040" cy="658368"/>
          </a:xfrm>
          <a:prstGeom prst="rect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387584" y="3255264"/>
            <a:ext cx="13533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👤 Users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87584" y="3547872"/>
            <a:ext cx="13533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FF9900"/>
                </a:solidFill>
              </a:rPr>
              <a:t>Browser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1965960" y="1700784"/>
            <a:ext cx="365760" cy="0"/>
          </a:xfrm>
          <a:prstGeom prst="line">
            <a:avLst/>
          </a:prstGeom>
          <a:ln w="22860">
            <a:solidFill>
              <a:srgbClr val="FF99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965960" y="3072384"/>
            <a:ext cx="365760" cy="0"/>
          </a:xfrm>
          <a:prstGeom prst="line">
            <a:avLst/>
          </a:prstGeom>
          <a:ln w="22860">
            <a:solidFill>
              <a:srgbClr val="FF99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4023360" y="1700784"/>
            <a:ext cx="548640" cy="548640"/>
          </a:xfrm>
          <a:prstGeom prst="line">
            <a:avLst/>
          </a:prstGeom>
          <a:ln w="22860">
            <a:solidFill>
              <a:srgbClr val="FF99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5417820.0" y="1645920"/>
            <a:ext cx="0.0" cy="274320"/>
          </a:xfrm>
          <a:prstGeom prst="line">
            <a:avLst/>
          </a:prstGeom>
          <a:ln w="22860">
            <a:solidFill>
              <a:srgbClr val="FF99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6263640" y="1700784"/>
            <a:ext cx="411480" cy="548640"/>
          </a:xfrm>
          <a:prstGeom prst="line">
            <a:avLst/>
          </a:prstGeom>
          <a:ln w="22860">
            <a:solidFill>
              <a:srgbClr val="FF99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8366760" y="1700784"/>
            <a:ext cx="320040" cy="0"/>
          </a:xfrm>
          <a:prstGeom prst="line">
            <a:avLst/>
          </a:prstGeom>
          <a:ln w="22860">
            <a:solidFill>
              <a:srgbClr val="FF99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4023360" y="3072384"/>
            <a:ext cx="548640" cy="457200"/>
          </a:xfrm>
          <a:prstGeom prst="line">
            <a:avLst/>
          </a:prstGeom>
          <a:ln w="22860">
            <a:solidFill>
              <a:srgbClr val="FF99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H="1">
            <a:off x="3177540.0" y="1700784"/>
            <a:ext cx="845820.0" cy="2688336"/>
          </a:xfrm>
          <a:prstGeom prst="line">
            <a:avLst/>
          </a:prstGeom>
          <a:ln w="22860">
            <a:solidFill>
              <a:srgbClr val="FF99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H="1">
            <a:off x="10332720" y="3529584"/>
            <a:ext cx="45720" cy="0"/>
          </a:xfrm>
          <a:prstGeom prst="line">
            <a:avLst/>
          </a:prstGeom>
          <a:ln w="22860">
            <a:solidFill>
              <a:srgbClr val="FF99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H="1">
            <a:off x="10378440" y="3529584"/>
            <a:ext cx="685800" cy="1005840"/>
          </a:xfrm>
          <a:prstGeom prst="line">
            <a:avLst/>
          </a:prstGeom>
          <a:ln w="22860">
            <a:solidFill>
              <a:srgbClr val="FF99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H="1">
            <a:off x="8366760" y="4535424"/>
            <a:ext cx="320040" cy="0"/>
          </a:xfrm>
          <a:prstGeom prst="line">
            <a:avLst/>
          </a:prstGeom>
          <a:ln w="22860">
            <a:solidFill>
              <a:srgbClr val="FF99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H="1" flipV="1">
            <a:off x="6263640" y="2340864"/>
            <a:ext cx="411480" cy="2194560"/>
          </a:xfrm>
          <a:prstGeom prst="line">
            <a:avLst/>
          </a:prstGeom>
          <a:ln w="22860">
            <a:solidFill>
              <a:srgbClr val="FF99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AWS Services Used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9900"/>
                </a:solidFill>
              </a:rPr>
              <a:t>All FedRAMP Authorized  ·  us-east-1 commercial  ·  No NAT Gateways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97280"/>
            <a:ext cx="12188952" cy="54864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AAAA"/>
                </a:solidFill>
              </a:rPr>
              <a:t>AWS Health Notifications Tracker  |  USPTO AWS Innovation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AAAAAA"/>
                </a:solidFill>
              </a:rPr>
              <a:t>CONFIDENTIAL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325880"/>
            <a:ext cx="2011680" cy="347472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9184" y="137160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Service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0" y="1325880"/>
            <a:ext cx="6035040" cy="347472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40864" y="1371600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Purpose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321040" y="1325880"/>
            <a:ext cx="1463040" cy="347472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75904" y="13716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FedRAMP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784080" y="1325880"/>
            <a:ext cx="1463040" cy="347472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38944" y="13716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Est. Cost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1673352"/>
            <a:ext cx="2011680" cy="420624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9184" y="1737360"/>
            <a:ext cx="1920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</a:rPr>
              <a:t>AWS Health API (Orgs)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86000" y="1673352"/>
            <a:ext cx="6035040" cy="420624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340864" y="1737360"/>
            <a:ext cx="5943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</a:rPr>
              <a:t>Source of all health events across 200 accounts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21040" y="1673352"/>
            <a:ext cx="1463040" cy="420624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75904" y="1737360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E8E4C"/>
                </a:solidFill>
              </a:rPr>
              <a:t>✅ Authorized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784080" y="1673352"/>
            <a:ext cx="1463040" cy="420624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38944" y="1737360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</a:rPr>
              <a:t>~$0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2093976"/>
            <a:ext cx="201168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9184" y="2157984"/>
            <a:ext cx="1920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</a:rPr>
              <a:t>Lambda (×4)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86000" y="2093976"/>
            <a:ext cx="603504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340864" y="2157984"/>
            <a:ext cx="5943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</a:rPr>
              <a:t>health-collector, llm-summarizer, deadline-reminder, api-handler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321040" y="2093976"/>
            <a:ext cx="146304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75904" y="2157984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E8E4C"/>
                </a:solidFill>
              </a:rPr>
              <a:t>✅ Authorized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784080" y="2093976"/>
            <a:ext cx="146304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38944" y="2157984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</a:rPr>
              <a:t>~$1–2/mo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2514600"/>
            <a:ext cx="2011680" cy="420624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29184" y="2578608"/>
            <a:ext cx="1920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</a:rPr>
              <a:t>DynamoDB (on-demand)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286000" y="2514600"/>
            <a:ext cx="6035040" cy="420624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340864" y="2578608"/>
            <a:ext cx="5943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</a:rPr>
              <a:t>Primary store — events, status, follow-up tracking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321040" y="2514600"/>
            <a:ext cx="1463040" cy="420624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75904" y="2578608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E8E4C"/>
                </a:solidFill>
              </a:rPr>
              <a:t>✅ Authorized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784080" y="2514600"/>
            <a:ext cx="1463040" cy="420624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838944" y="2578608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</a:rPr>
              <a:t>~$5–10/mo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74320" y="2935224"/>
            <a:ext cx="201168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29184" y="2999232"/>
            <a:ext cx="1920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</a:rPr>
              <a:t>Amazon Bedrock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286000" y="2935224"/>
            <a:ext cx="603504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340864" y="2999232"/>
            <a:ext cx="5943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</a:rPr>
              <a:t>Claude Haiku LLM — summaries &amp; action extraction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321040" y="2935224"/>
            <a:ext cx="146304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375904" y="2999232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E8E4C"/>
                </a:solidFill>
              </a:rPr>
              <a:t>✅ Authorized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784080" y="2935224"/>
            <a:ext cx="146304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838944" y="2999232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</a:rPr>
              <a:t>~$1–2/mo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74320" y="3355848"/>
            <a:ext cx="2011680" cy="420624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29184" y="3419856"/>
            <a:ext cx="1920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</a:rPr>
              <a:t>S3 (×2)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286000" y="3355848"/>
            <a:ext cx="6035040" cy="420624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340864" y="3419856"/>
            <a:ext cx="5943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</a:rPr>
              <a:t>Raw event archive + React SPA static assets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321040" y="3355848"/>
            <a:ext cx="1463040" cy="420624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375904" y="3419856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E8E4C"/>
                </a:solidFill>
              </a:rPr>
              <a:t>✅ Authorized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784080" y="3355848"/>
            <a:ext cx="1463040" cy="420624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838944" y="3419856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</a:rPr>
              <a:t>&lt;$1/mo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74320" y="3776472"/>
            <a:ext cx="201168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29184" y="3840480"/>
            <a:ext cx="1920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</a:rPr>
              <a:t>CloudFront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286000" y="3776472"/>
            <a:ext cx="603504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340864" y="3840480"/>
            <a:ext cx="5943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</a:rPr>
              <a:t>CDN for React SPA with Origin Access Control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321040" y="3776472"/>
            <a:ext cx="146304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375904" y="3840480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E8E4C"/>
                </a:solidFill>
              </a:rPr>
              <a:t>✅ Authorized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784080" y="3776472"/>
            <a:ext cx="146304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838944" y="3840480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</a:rPr>
              <a:t>&lt;$1/mo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74320" y="4197096"/>
            <a:ext cx="2011680" cy="420624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29184" y="4261104"/>
            <a:ext cx="1920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</a:rPr>
              <a:t>API Gateway (HTTP)</a:t>
            </a:r>
          </a:p>
        </p:txBody>
      </p:sp>
      <p:sp>
        <p:nvSpPr>
          <p:cNvPr id="67" name="Rectangle 66"/>
          <p:cNvSpPr/>
          <p:nvPr/>
        </p:nvSpPr>
        <p:spPr>
          <a:xfrm>
            <a:off x="2286000" y="4197096"/>
            <a:ext cx="6035040" cy="420624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340864" y="4261104"/>
            <a:ext cx="5943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</a:rPr>
              <a:t>REST backend for the React app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321040" y="4197096"/>
            <a:ext cx="1463040" cy="420624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375904" y="4261104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E8E4C"/>
                </a:solidFill>
              </a:rPr>
              <a:t>✅ Authorized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784080" y="4197096"/>
            <a:ext cx="1463040" cy="420624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838944" y="4261104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</a:rPr>
              <a:t>~$1/mo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74320" y="4617720"/>
            <a:ext cx="201168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29184" y="4681728"/>
            <a:ext cx="1920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</a:rPr>
              <a:t>EventBridge Scheduler</a:t>
            </a:r>
          </a:p>
        </p:txBody>
      </p:sp>
      <p:sp>
        <p:nvSpPr>
          <p:cNvPr id="75" name="Rectangle 74"/>
          <p:cNvSpPr/>
          <p:nvPr/>
        </p:nvSpPr>
        <p:spPr>
          <a:xfrm>
            <a:off x="2286000" y="4617720"/>
            <a:ext cx="603504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340864" y="4681728"/>
            <a:ext cx="5943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</a:rPr>
              <a:t>Cron triggers: 15-min collector + daily reminder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321040" y="4617720"/>
            <a:ext cx="146304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375904" y="4681728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E8E4C"/>
                </a:solidFill>
              </a:rPr>
              <a:t>✅ Authorized</a:t>
            </a:r>
          </a:p>
        </p:txBody>
      </p:sp>
      <p:sp>
        <p:nvSpPr>
          <p:cNvPr id="79" name="Rectangle 78"/>
          <p:cNvSpPr/>
          <p:nvPr/>
        </p:nvSpPr>
        <p:spPr>
          <a:xfrm>
            <a:off x="9784080" y="4617720"/>
            <a:ext cx="146304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838944" y="4681728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</a:rPr>
              <a:t>&lt;$1/mo</a:t>
            </a:r>
          </a:p>
        </p:txBody>
      </p:sp>
      <p:sp>
        <p:nvSpPr>
          <p:cNvPr id="81" name="Rectangle 80"/>
          <p:cNvSpPr/>
          <p:nvPr/>
        </p:nvSpPr>
        <p:spPr>
          <a:xfrm>
            <a:off x="274320" y="5038344"/>
            <a:ext cx="2011680" cy="420624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29184" y="5102352"/>
            <a:ext cx="1920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</a:rPr>
              <a:t>SNS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286000" y="5038344"/>
            <a:ext cx="6035040" cy="420624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2340864" y="5102352"/>
            <a:ext cx="5943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</a:rPr>
              <a:t>Deadline alert email digests to ops team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321040" y="5038344"/>
            <a:ext cx="1463040" cy="420624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375904" y="5102352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E8E4C"/>
                </a:solidFill>
              </a:rPr>
              <a:t>✅ Authorized</a:t>
            </a:r>
          </a:p>
        </p:txBody>
      </p:sp>
      <p:sp>
        <p:nvSpPr>
          <p:cNvPr id="87" name="Rectangle 86"/>
          <p:cNvSpPr/>
          <p:nvPr/>
        </p:nvSpPr>
        <p:spPr>
          <a:xfrm>
            <a:off x="9784080" y="5038344"/>
            <a:ext cx="1463040" cy="420624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9838944" y="5102352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</a:rPr>
              <a:t>&lt;$1/mo</a:t>
            </a:r>
          </a:p>
        </p:txBody>
      </p:sp>
      <p:sp>
        <p:nvSpPr>
          <p:cNvPr id="89" name="Rectangle 88"/>
          <p:cNvSpPr/>
          <p:nvPr/>
        </p:nvSpPr>
        <p:spPr>
          <a:xfrm>
            <a:off x="274320" y="5458968"/>
            <a:ext cx="201168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329184" y="5522976"/>
            <a:ext cx="1920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</a:rPr>
              <a:t>CloudWatch Logs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286000" y="5458968"/>
            <a:ext cx="603504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340864" y="5522976"/>
            <a:ext cx="5943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</a:rPr>
              <a:t>All Lambda logs, 30-day retention</a:t>
            </a:r>
          </a:p>
        </p:txBody>
      </p:sp>
      <p:sp>
        <p:nvSpPr>
          <p:cNvPr id="93" name="Rectangle 92"/>
          <p:cNvSpPr/>
          <p:nvPr/>
        </p:nvSpPr>
        <p:spPr>
          <a:xfrm>
            <a:off x="8321040" y="5458968"/>
            <a:ext cx="146304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8375904" y="5522976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E8E4C"/>
                </a:solidFill>
              </a:rPr>
              <a:t>✅ Authorized</a:t>
            </a:r>
          </a:p>
        </p:txBody>
      </p:sp>
      <p:sp>
        <p:nvSpPr>
          <p:cNvPr id="95" name="Rectangle 94"/>
          <p:cNvSpPr/>
          <p:nvPr/>
        </p:nvSpPr>
        <p:spPr>
          <a:xfrm>
            <a:off x="9784080" y="5458968"/>
            <a:ext cx="146304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9838944" y="5522976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</a:rPr>
              <a:t>&lt;$1/mo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74320" y="64008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32F3E"/>
                </a:solidFill>
              </a:rPr>
              <a:t>Total estimated monthly cost: ~$10–15/month at steady state (50K events, 500 Bedrock calls)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9900"/>
                </a:solidFill>
              </a:rPr>
              <a:t>Real-time stats, urgency charts, and upcoming deadlines at a glance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97280"/>
            <a:ext cx="12188952" cy="54864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AAAA"/>
                </a:solidFill>
              </a:rPr>
              <a:t>AWS Health Notifications Tracker  |  USPTO AWS Innovation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AAAAAA"/>
                </a:solidFill>
              </a:rPr>
              <a:t>CONFIDENTIAL</a:t>
            </a:r>
          </a:p>
        </p:txBody>
      </p:sp>
      <p:pic>
        <p:nvPicPr>
          <p:cNvPr id="9" name="Picture 8" descr="01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34440"/>
            <a:ext cx="11612880" cy="51663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74320" y="641908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44444"/>
                </a:solidFill>
              </a:rPr>
              <a:t>Stats cards · Events by Service chart · Events by Urgency chart · Top critical events table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Notifications 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9900"/>
                </a:solidFill>
              </a:rPr>
              <a:t>Searchable, filterable, sortable — all 200 accounts in one 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97280"/>
            <a:ext cx="12188952" cy="54864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AAAA"/>
                </a:solidFill>
              </a:rPr>
              <a:t>AWS Health Notifications Tracker  |  USPTO AWS Innovation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AAAAAA"/>
                </a:solidFill>
              </a:rPr>
              <a:t>CONFIDENTIAL</a:t>
            </a:r>
          </a:p>
        </p:txBody>
      </p:sp>
      <p:pic>
        <p:nvPicPr>
          <p:cNvPr id="9" name="Picture 8" descr="02_notification_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34440"/>
            <a:ext cx="11612880" cy="51663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74320" y="641908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44444"/>
                </a:solidFill>
              </a:rPr>
              <a:t>Search · Filter by Service / Urgency / Status / Account · Deadline countdown · CSV export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Intelligent Filtering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9900"/>
                </a:solidFill>
              </a:rPr>
              <a:t>Instantly isolate Critical events across all accounts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97280"/>
            <a:ext cx="12188952" cy="54864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AAAA"/>
                </a:solidFill>
              </a:rPr>
              <a:t>AWS Health Notifications Tracker  |  USPTO AWS Innovation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AAAAAA"/>
                </a:solidFill>
              </a:rPr>
              <a:t>CONFIDENTIAL</a:t>
            </a:r>
          </a:p>
        </p:txBody>
      </p:sp>
      <p:pic>
        <p:nvPicPr>
          <p:cNvPr id="9" name="Picture 8" descr="03_notification_list_filte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34440"/>
            <a:ext cx="11612880" cy="51663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74320" y="641908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44444"/>
                </a:solidFill>
              </a:rPr>
              <a:t>Filter to Critical urgency — surface highest-priority items immediately for any account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AI-Generated Event Detail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9900"/>
                </a:solidFill>
              </a:rPr>
              <a:t>Amazon Bedrock (Claude Haiku) turns raw API events into actionable guidance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97280"/>
            <a:ext cx="12188952" cy="54864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AAAA"/>
                </a:solidFill>
              </a:rPr>
              <a:t>AWS Health Notifications Tracker  |  USPTO AWS Innovation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AAAAAA"/>
                </a:solidFill>
              </a:rPr>
              <a:t>CONFIDENTIAL</a:t>
            </a:r>
          </a:p>
        </p:txBody>
      </p:sp>
      <p:pic>
        <p:nvPicPr>
          <p:cNvPr id="9" name="Picture 8" descr="04_notification_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34440"/>
            <a:ext cx="7498079" cy="516636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7955279" y="1325880"/>
            <a:ext cx="3977639" cy="1170432"/>
          </a:xfrm>
          <a:prstGeom prst="rect">
            <a:avLst/>
          </a:prstGeom>
          <a:solidFill>
            <a:srgbClr val="0073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92440" y="1399032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📝  Plain-English Summary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92440" y="1737360"/>
            <a:ext cx="374903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2–3 sentence stakeholder-ready description generated by Claude Haiku via Amazon Bedrock.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79" y="2587752"/>
            <a:ext cx="3977639" cy="1170432"/>
          </a:xfrm>
          <a:prstGeom prst="rect">
            <a:avLst/>
          </a:prstGeom>
          <a:solidFill>
            <a:srgbClr val="1E8E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92440" y="2660904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✅  Recommended Actions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92440" y="2999232"/>
            <a:ext cx="374903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3–5 specific, step-by-step action items extracted from the raw event description.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55279" y="3849624"/>
            <a:ext cx="3977639" cy="1170432"/>
          </a:xfrm>
          <a:prstGeom prst="rect">
            <a:avLst/>
          </a:prstGeom>
          <a:solidFill>
            <a:srgbClr val="D13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92440" y="3922776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⏰  Urgency + Deadline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92440" y="4261104"/>
            <a:ext cx="374903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Automatic classification: Critical / High / Medium / Low based on deadline proximity.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55279" y="5111496"/>
            <a:ext cx="3977639" cy="1170432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2440" y="5184648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👤  Follow-up Tracker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92440" y="5522976"/>
            <a:ext cx="374903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Owner assignment, status dropdown, and notes — saved directly to DynamoDB.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Security &amp; Compliance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9900"/>
                </a:solidFill>
              </a:rPr>
              <a:t>FedRAMP Authorized services only · IAM least-privilege · No data leaves us-east-1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97280"/>
            <a:ext cx="12188952" cy="54864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AAAA"/>
                </a:solidFill>
              </a:rPr>
              <a:t>AWS Health Notifications Tracker  |  USPTO AWS Innovation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AAAAAA"/>
                </a:solidFill>
              </a:rPr>
              <a:t>CONFIDENTIAL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325880"/>
            <a:ext cx="11521440" cy="868680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325880"/>
            <a:ext cx="109728" cy="86868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380744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32F3E"/>
                </a:solidFill>
              </a:rPr>
              <a:t>🏛  FedRAMP Authorized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1453896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All AWS services used (Lambda, DynamoDB, S3, CloudFront, API Gateway, Bedrock, EventBridge, SNS) are FedRAMP Authorized in us-east-1.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2286000"/>
            <a:ext cx="11521440" cy="868680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74320" y="2286000"/>
            <a:ext cx="109728" cy="86868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2340864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32F3E"/>
                </a:solidFill>
              </a:rPr>
              <a:t>🔐  IAM Least-Privilege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0" y="2414016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Each Lambda has a dedicated IAM role with only the permissions it needs — no wildcard actions, no shared roles.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3246120"/>
            <a:ext cx="11521440" cy="868680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74320" y="3246120"/>
            <a:ext cx="109728" cy="86868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300984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32F3E"/>
                </a:solidFill>
              </a:rPr>
              <a:t>🔒  Encryption at Rest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3374136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DynamoDB tables encrypted with AWS-managed keys. S3 buckets use S3-managed encryption. All traffic over TLS 1.2+.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4206240"/>
            <a:ext cx="11521440" cy="868680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74320" y="4206240"/>
            <a:ext cx="109728" cy="86868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4261104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32F3E"/>
                </a:solidFill>
              </a:rPr>
              <a:t>🌐  Network Isolation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74720" y="4334256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No VPC, no NAT Gateway — Lambda functions call AWS APIs directly over HTTPS. No public S3 bucket policies; CloudFront uses OAC.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5166360"/>
            <a:ext cx="11521440" cy="868680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74320" y="5166360"/>
            <a:ext cx="109728" cy="86868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5221224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32F3E"/>
                </a:solidFill>
              </a:rPr>
              <a:t>📋  Audit &amp; Observability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74720" y="5294376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All Lambda invocations logged to CloudWatch with 30-day retention. DynamoDB Point-in-Time Recovery enabled on the HealthEvents table.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Cost Estimate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9900"/>
                </a:solidFill>
              </a:rPr>
              <a:t>Pay-per-use serverless architecture — minimal idle cost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97280"/>
            <a:ext cx="12188952" cy="54864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AAAA"/>
                </a:solidFill>
              </a:rPr>
              <a:t>AWS Health Notifications Tracker  |  USPTO AWS Innovation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AAAAAA"/>
                </a:solidFill>
              </a:rPr>
              <a:t>CONFIDENTIAL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325880"/>
            <a:ext cx="2286000" cy="347472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9184" y="137160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Service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51760" y="1325880"/>
            <a:ext cx="6675120" cy="347472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06624" y="1371600"/>
            <a:ext cx="6583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Basis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418320" y="1325880"/>
            <a:ext cx="2468880" cy="347472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73184" y="137160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Monthly Cost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1673352"/>
            <a:ext cx="2286000" cy="402336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9184" y="1737360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</a:rPr>
              <a:t>Lambda (×4 functions)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51760" y="1673352"/>
            <a:ext cx="6675120" cy="402336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06624" y="1737360"/>
            <a:ext cx="6583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</a:rPr>
              <a:t>15-min polling + stream triggers + daily reminder + API calls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418320" y="1673352"/>
            <a:ext cx="2468880" cy="402336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73184" y="1737360"/>
            <a:ext cx="2377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E8E4C"/>
                </a:solidFill>
              </a:rPr>
              <a:t>~$1–2/mo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2075688"/>
            <a:ext cx="22860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9184" y="2139696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</a:rPr>
              <a:t>DynamoDB on-demand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651760" y="2075688"/>
            <a:ext cx="667512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06624" y="2139696"/>
            <a:ext cx="6583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E8E4C"/>
                </a:solidFill>
              </a:rPr>
              <a:t>~50K reads + 50K writes per month (200 accounts × daily events)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418320" y="2075688"/>
            <a:ext cx="246888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473184" y="2139696"/>
            <a:ext cx="2377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E8E4C"/>
                </a:solidFill>
              </a:rPr>
              <a:t>~$5–10/mo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2478024"/>
            <a:ext cx="2286000" cy="402336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29184" y="2542032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</a:rPr>
              <a:t>Amazon Bedrock (Haiku)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651760" y="2478024"/>
            <a:ext cx="6675120" cy="402336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706624" y="2542032"/>
            <a:ext cx="6583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E8E4C"/>
                </a:solidFill>
              </a:rPr>
              <a:t>~500 events/month × avg 1K tokens in + 0.5K out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418320" y="2478024"/>
            <a:ext cx="2468880" cy="402336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473184" y="2542032"/>
            <a:ext cx="2377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E8E4C"/>
                </a:solidFill>
              </a:rPr>
              <a:t>~$1–2/mo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2880360"/>
            <a:ext cx="22860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29184" y="2944368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</a:rPr>
              <a:t>S3 (archive + SPA)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651760" y="2880360"/>
            <a:ext cx="667512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06624" y="2944368"/>
            <a:ext cx="6583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</a:rPr>
              <a:t>Raw JSON archive + static frontend assets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418320" y="2880360"/>
            <a:ext cx="246888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473184" y="2944368"/>
            <a:ext cx="2377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E8E4C"/>
                </a:solidFill>
              </a:rPr>
              <a:t>&lt;$1/mo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3282696"/>
            <a:ext cx="2286000" cy="402336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29184" y="3346704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</a:rPr>
              <a:t>CloudFront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51760" y="3282696"/>
            <a:ext cx="6675120" cy="402336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706624" y="3346704"/>
            <a:ext cx="6583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</a:rPr>
              <a:t>Static SPA delivery — free tier covers most traffic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418320" y="3282696"/>
            <a:ext cx="2468880" cy="402336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473184" y="3346704"/>
            <a:ext cx="2377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E8E4C"/>
                </a:solidFill>
              </a:rPr>
              <a:t>&lt;$1/mo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4320" y="3685032"/>
            <a:ext cx="22860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29184" y="3749040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</a:rPr>
              <a:t>API Gateway HTTP API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651760" y="3685032"/>
            <a:ext cx="667512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706624" y="3749040"/>
            <a:ext cx="6583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E8E4C"/>
                </a:solidFill>
              </a:rPr>
              <a:t>~10K API calls/month from dashboard users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418320" y="3685032"/>
            <a:ext cx="246888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473184" y="3749040"/>
            <a:ext cx="2377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E8E4C"/>
                </a:solidFill>
              </a:rPr>
              <a:t>~$1/mo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74320" y="4087368"/>
            <a:ext cx="2286000" cy="402336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29184" y="4151376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</a:rPr>
              <a:t>EventBridge Scheduler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651760" y="4087368"/>
            <a:ext cx="6675120" cy="402336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706624" y="4151376"/>
            <a:ext cx="6583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</a:rPr>
              <a:t>2 schedules — flat rate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418320" y="4087368"/>
            <a:ext cx="2468880" cy="402336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473184" y="4151376"/>
            <a:ext cx="2377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E8E4C"/>
                </a:solidFill>
              </a:rPr>
              <a:t>&lt;$1/mo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74320" y="4489704"/>
            <a:ext cx="22860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29184" y="4553712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</a:rPr>
              <a:t>SNS + CloudWatch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651760" y="4489704"/>
            <a:ext cx="667512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706624" y="4553712"/>
            <a:ext cx="6583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</a:rPr>
              <a:t>Email digest + log ingestion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418320" y="4489704"/>
            <a:ext cx="246888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473184" y="4553712"/>
            <a:ext cx="2377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E8E4C"/>
                </a:solidFill>
              </a:rPr>
              <a:t>&lt;$1/mo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74320" y="4965192"/>
            <a:ext cx="11612880" cy="45720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65760" y="5001768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Total Estimated Monthly Cost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144000" y="5001768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F9900"/>
                </a:solidFill>
              </a:rPr>
              <a:t>~$10–15 / month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Roadmap &amp;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9900"/>
                </a:solidFill>
              </a:rPr>
              <a:t>Phase 2 enhancements to further reduce operational toil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97280"/>
            <a:ext cx="12188952" cy="54864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AAAA"/>
                </a:solidFill>
              </a:rPr>
              <a:t>AWS Health Notifications Tracker  |  USPTO AWS Innovation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AAAAAA"/>
                </a:solidFill>
              </a:rPr>
              <a:t>CONFIDENTIAL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298448"/>
            <a:ext cx="3794760" cy="411480"/>
          </a:xfrm>
          <a:prstGeom prst="rect">
            <a:avLst/>
          </a:prstGeom>
          <a:solidFill>
            <a:srgbClr val="1E8E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353312"/>
            <a:ext cx="3611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Phase 1  ✅  Complete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709928"/>
            <a:ext cx="3794760" cy="4892040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847088"/>
            <a:ext cx="3520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• Automated health event collection across all 200 accounts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2898648"/>
            <a:ext cx="3520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• AI-generated summaries and action items via Amazon Bedrock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3950208"/>
            <a:ext cx="3520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• Centralized React dashboard with filtering, search, and CSV export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5001768"/>
            <a:ext cx="3520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• Follow-up ownership tracking and deadline reminders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51959" y="1298448"/>
            <a:ext cx="3794760" cy="41148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43399" y="1353312"/>
            <a:ext cx="3611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Phase 2  →  Near-term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51959" y="1709928"/>
            <a:ext cx="3794760" cy="4892040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89119" y="1847088"/>
            <a:ext cx="3520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• Slack / Microsoft Teams integration for real-time event notifications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19" y="2898648"/>
            <a:ext cx="3520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• ServiceNow ticketing — auto-create incident for Critical events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9119" y="3950208"/>
            <a:ext cx="3520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• Cognito authentication when AWS SSO federation is available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19" y="5001768"/>
            <a:ext cx="3520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• Multi-region support (us-west-2 failover)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598" y="1298448"/>
            <a:ext cx="3794760" cy="411480"/>
          </a:xfrm>
          <a:prstGeom prst="rect">
            <a:avLst/>
          </a:prstGeom>
          <a:solidFill>
            <a:srgbClr val="5656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21038" y="1353312"/>
            <a:ext cx="3611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Phase 3  →  Strategic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598" y="1709928"/>
            <a:ext cx="3794760" cy="4892040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66758" y="1847088"/>
            <a:ext cx="3520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• AWS Systems Manager integration — automated remediation runbooks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66758" y="2898648"/>
            <a:ext cx="3520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• Account tag-based routing (team ownership from AWS Organizations tags)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66758" y="3950208"/>
            <a:ext cx="3520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• Historical trend analysis — Bedrock insights on recurring event patterns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58" y="5001768"/>
            <a:ext cx="3520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• API integration with USPTO ITSM / CMDB for asset correlation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" y="641908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44444"/>
                </a:solidFill>
              </a:rPr>
              <a:t>Questions?  |  Repository: github.com/saspto/aws-health-notifications-tracker  |  Live app: d2vuz8nfxuvkbe.cloudfront.net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