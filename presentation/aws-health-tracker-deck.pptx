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3716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</a:rPr>
              <a:t>AWS Health Notifications Tracker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2651760"/>
            <a:ext cx="9144000" cy="64008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8346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CCCCCC"/>
                </a:solidFill>
              </a:rPr>
              <a:t>Centralized Visibility &amp; AI-Powered Insights for 200+ Account AWS Organizations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11480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9900"/>
                </a:solidFill>
              </a:rPr>
              <a:t>Demo Presentation  |  USPTO AWS Innovation Team  |  April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9601200" y="5852160"/>
            <a:ext cx="2286000" cy="64008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0" y="5897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Powered by AWS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50292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The Challenge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0080"/>
            <a:ext cx="10515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9900"/>
                </a:solidFill>
              </a:rPr>
              <a:t>Managing AWS Health events at scale across a large AWS Organization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379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88"/>
                </a:solidFill>
              </a:rPr>
              <a:t>AWS Health Notifications Tracker  |  USPTO AWS Innovation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379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88888"/>
                </a:solidFill>
              </a:rPr>
              <a:t>April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234440"/>
            <a:ext cx="64008" cy="118872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84048" y="1234440"/>
            <a:ext cx="11430000" cy="1188720"/>
          </a:xfrm>
          <a:prstGeom prst="rect">
            <a:avLst/>
          </a:prstGeom>
          <a:solidFill>
            <a:srgbClr val="F2F2F2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3258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32F3E"/>
                </a:solidFill>
              </a:rPr>
              <a:t>Missed Deadlines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691640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</a:rPr>
              <a:t>Critical maintenance windows and deprecation notices are buried in 200 individual account dashboards. There is no organization-wide view, so teams regularly miss required actions.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2560320"/>
            <a:ext cx="64008" cy="118872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84048" y="2560320"/>
            <a:ext cx="11430000" cy="1188720"/>
          </a:xfrm>
          <a:prstGeom prst="rect">
            <a:avLst/>
          </a:prstGeom>
          <a:solidFill>
            <a:srgbClr val="F2F2F2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2651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32F3E"/>
                </a:solidFill>
              </a:rPr>
              <a:t>Manual, Fragmented Tracking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017520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</a:rPr>
              <a:t>Operations teams must manually check each account in the AWS Console. Spreadsheets used to track follow-up status become stale within hours and have no ownership workflow.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3886200"/>
            <a:ext cx="64008" cy="118872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3886200"/>
            <a:ext cx="11430000" cy="1188720"/>
          </a:xfrm>
          <a:prstGeom prst="rect">
            <a:avLst/>
          </a:prstGeom>
          <a:solidFill>
            <a:srgbClr val="F2F2F2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3977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32F3E"/>
                </a:solidFill>
              </a:rPr>
              <a:t>No Prioritization or AI Assistance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343400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</a:rPr>
              <a:t>Raw AWS Health events contain dense technical text with no plain-English summary. Teams cannot distinguish Critical from Low urgency at a glance, and there is no automated action recommendation.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303520"/>
            <a:ext cx="11430000" cy="4572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533095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Result: Compliance risk, reactive operations, and engineer burnout from manual account monitoring.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50292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Solution: AWS Health Notifications Tracker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0080"/>
            <a:ext cx="10515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9900"/>
                </a:solidFill>
              </a:rPr>
              <a:t>Automated collection  •  AI summarization  •  Deadline tracking  •  Follow-up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379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88"/>
                </a:solidFill>
              </a:rPr>
              <a:t>AWS Health Notifications Tracker  |  USPTO AWS Innovation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379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88888"/>
                </a:solidFill>
              </a:rPr>
              <a:t>April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228600" y="1261872"/>
            <a:ext cx="2286000" cy="48920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28600" y="1261872"/>
            <a:ext cx="2286000" cy="45720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1298448"/>
            <a:ext cx="2148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Automated Collection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1783080"/>
            <a:ext cx="2121408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EventBridge triggers Health Collector Lambda every 15 minutes. AWS Organizations Health API aggregates events from all 200 accounts automatically.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06040" y="1261872"/>
            <a:ext cx="2286000" cy="48920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606040" y="1261872"/>
            <a:ext cx="2286000" cy="457200"/>
          </a:xfrm>
          <a:prstGeom prst="rect">
            <a:avLst/>
          </a:prstGeom>
          <a:solidFill>
            <a:srgbClr val="0073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97480" y="1298448"/>
            <a:ext cx="2148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AI Summarization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97480" y="1783080"/>
            <a:ext cx="2121408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Amazon Bedrock (Claude Haiku) converts raw AWS API events into plain-English summaries, step-by-step action items, urgency scores, and extracted deadlines.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83480" y="1261872"/>
            <a:ext cx="2286000" cy="48920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83480" y="1261872"/>
            <a:ext cx="2286000" cy="457200"/>
          </a:xfrm>
          <a:prstGeom prst="rect">
            <a:avLst/>
          </a:prstGeom>
          <a:solidFill>
            <a:srgbClr val="1A5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74920" y="1298448"/>
            <a:ext cx="2148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Centralized Dashboard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1783080"/>
            <a:ext cx="2121408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React SPA on CloudFront shows stats cards, service/urgency charts, sortable event list, and deadline countdowns — all accounts in a single view.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60920" y="1261872"/>
            <a:ext cx="2286000" cy="48920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60920" y="1261872"/>
            <a:ext cx="2286000" cy="457200"/>
          </a:xfrm>
          <a:prstGeom prst="rect">
            <a:avLst/>
          </a:prstGeom>
          <a:solidFill>
            <a:srgbClr val="7B2D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52360" y="1298448"/>
            <a:ext cx="2148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Proactive Reminders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52360" y="1783080"/>
            <a:ext cx="2121408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Daily SNS email digest for events with deadlines within 7 days. Critical events re-escalate at 3 days remaining.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738360" y="1261872"/>
            <a:ext cx="2286000" cy="48920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738360" y="1261872"/>
            <a:ext cx="2286000" cy="457200"/>
          </a:xfrm>
          <a:prstGeom prst="rect">
            <a:avLst/>
          </a:prstGeom>
          <a:solidFill>
            <a:srgbClr val="A052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29800" y="1298448"/>
            <a:ext cx="2148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Follow-up Workflow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29800" y="1783080"/>
            <a:ext cx="2121408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Per-event owner assignment, status tracking (Pending / In Progress / Resolved), and free-text notes — persisted to DynamoDB and visible org-wide.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50292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0080"/>
            <a:ext cx="10515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9900"/>
                </a:solidFill>
              </a:rPr>
              <a:t>Serverless  •  FedRAMP Authorized  •  us-east-1  •  ~$10–15/month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379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88"/>
                </a:solidFill>
              </a:rPr>
              <a:t>AWS Health Notifications Tracker  |  USPTO AWS Innovation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379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88888"/>
                </a:solidFill>
              </a:rPr>
              <a:t>April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228600" y="1298448"/>
            <a:ext cx="1828800" cy="594360"/>
          </a:xfrm>
          <a:prstGeom prst="rect">
            <a:avLst/>
          </a:prstGeom>
          <a:solidFill>
            <a:srgbClr val="7B2D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" y="1344168"/>
            <a:ext cx="171907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EventBridge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" y="1618488"/>
            <a:ext cx="171907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9900"/>
                </a:solidFill>
              </a:rPr>
              <a:t>rate(15 min)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57400" y="1545336"/>
            <a:ext cx="411480" cy="73152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468880" y="1298448"/>
            <a:ext cx="1828800" cy="59436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32888" y="1344168"/>
            <a:ext cx="171907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health-collector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32888" y="1618488"/>
            <a:ext cx="171907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9900"/>
                </a:solidFill>
              </a:rPr>
              <a:t>Lambda  Python 3.12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97680" y="1545336"/>
            <a:ext cx="411480" cy="73152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709160" y="1298448"/>
            <a:ext cx="1828800" cy="594360"/>
          </a:xfrm>
          <a:prstGeom prst="rect">
            <a:avLst/>
          </a:prstGeom>
          <a:solidFill>
            <a:srgbClr val="1A5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73168" y="1344168"/>
            <a:ext cx="171907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DynamoDB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73168" y="1618488"/>
            <a:ext cx="171907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9900"/>
                </a:solidFill>
              </a:rPr>
              <a:t>HealthEvents table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37960" y="1545336"/>
            <a:ext cx="411480" cy="73152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949440" y="1298448"/>
            <a:ext cx="1828800" cy="59436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13448" y="1344168"/>
            <a:ext cx="171907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llm-summarizer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13448" y="1618488"/>
            <a:ext cx="171907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9900"/>
                </a:solidFill>
              </a:rPr>
              <a:t>Lambda  Python 3.12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778240" y="1545336"/>
            <a:ext cx="411480" cy="73152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89720" y="1298448"/>
            <a:ext cx="1828800" cy="594360"/>
          </a:xfrm>
          <a:prstGeom prst="rect">
            <a:avLst/>
          </a:prstGeom>
          <a:solidFill>
            <a:srgbClr val="7B2D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53728" y="1344168"/>
            <a:ext cx="171907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Amazon Bedrock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53728" y="1618488"/>
            <a:ext cx="171907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9900"/>
                </a:solidFill>
              </a:rPr>
              <a:t>Claude Haiku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23560" y="1892808"/>
            <a:ext cx="73152" cy="2286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66360" y="21396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888888"/>
                </a:solidFill>
              </a:rPr>
              <a:t>DynamoDB Streams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383280" y="1892808"/>
            <a:ext cx="73152" cy="82296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468880" y="2404872"/>
            <a:ext cx="1828800" cy="594360"/>
          </a:xfrm>
          <a:prstGeom prst="rect">
            <a:avLst/>
          </a:prstGeom>
          <a:solidFill>
            <a:srgbClr val="567B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532888" y="2450592"/>
            <a:ext cx="171907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S3 Archive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532888" y="2724912"/>
            <a:ext cx="171907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9900"/>
                </a:solidFill>
              </a:rPr>
              <a:t>Raw event JSON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28600" y="2404872"/>
            <a:ext cx="1828800" cy="594360"/>
          </a:xfrm>
          <a:prstGeom prst="rect">
            <a:avLst/>
          </a:prstGeom>
          <a:solidFill>
            <a:srgbClr val="7B2D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92608" y="2450592"/>
            <a:ext cx="171907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EventBridge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92608" y="2724912"/>
            <a:ext cx="171907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9900"/>
                </a:solidFill>
              </a:rPr>
              <a:t>cron(0 9 * * ?)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057400" y="2651760"/>
            <a:ext cx="411480" cy="73152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709160" y="2404872"/>
            <a:ext cx="1828800" cy="59436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73168" y="2450592"/>
            <a:ext cx="171907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deadline-reminder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73168" y="2724912"/>
            <a:ext cx="171907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9900"/>
                </a:solidFill>
              </a:rPr>
              <a:t>Lambda  Python 3.12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37960" y="2651760"/>
            <a:ext cx="411480" cy="73152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949440" y="2404872"/>
            <a:ext cx="1828800" cy="594360"/>
          </a:xfrm>
          <a:prstGeom prst="rect">
            <a:avLst/>
          </a:prstGeom>
          <a:solidFill>
            <a:srgbClr val="E85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013448" y="2450592"/>
            <a:ext cx="171907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SNS Topic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13448" y="2724912"/>
            <a:ext cx="171907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9900"/>
                </a:solidFill>
              </a:rPr>
              <a:t>Email digest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54880" y="2999232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88888"/>
                </a:solidFill>
              </a:rPr>
              <a:t>API reads from DynamoDB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23560" y="3401568"/>
            <a:ext cx="73152" cy="50292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709160" y="3273552"/>
            <a:ext cx="1828800" cy="59436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773168" y="3319272"/>
            <a:ext cx="171907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api-handler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773168" y="3593592"/>
            <a:ext cx="171907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9900"/>
                </a:solidFill>
              </a:rPr>
              <a:t>Lambda  Python 3.12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537960" y="3520440"/>
            <a:ext cx="411480" cy="73152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949440" y="3273552"/>
            <a:ext cx="1828800" cy="594360"/>
          </a:xfrm>
          <a:prstGeom prst="rect">
            <a:avLst/>
          </a:prstGeom>
          <a:solidFill>
            <a:srgbClr val="A052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013448" y="3319272"/>
            <a:ext cx="171907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API Gateway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013448" y="3593592"/>
            <a:ext cx="171907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9900"/>
                </a:solidFill>
              </a:rPr>
              <a:t>HTTP API (open)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778240" y="3520440"/>
            <a:ext cx="411480" cy="73152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9189720" y="3273552"/>
            <a:ext cx="1828800" cy="594360"/>
          </a:xfrm>
          <a:prstGeom prst="rect">
            <a:avLst/>
          </a:prstGeom>
          <a:solidFill>
            <a:srgbClr val="0073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253728" y="3319272"/>
            <a:ext cx="171907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CloudFront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253728" y="3593592"/>
            <a:ext cx="171907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9900"/>
                </a:solidFill>
              </a:rPr>
              <a:t>React SPA + S3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464040" y="4160520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32F3E"/>
                </a:solidFill>
              </a:rPr>
              <a:t>Users (browser)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0104120" y="3867912"/>
            <a:ext cx="73152" cy="4572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228600" y="6144768"/>
            <a:ext cx="201168" cy="201168"/>
          </a:xfrm>
          <a:prstGeom prst="rect">
            <a:avLst/>
          </a:prstGeom>
          <a:solidFill>
            <a:srgbClr val="7B2D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75488" y="6135624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EventBridge Scheduler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148840" y="6144768"/>
            <a:ext cx="201168" cy="201168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395728" y="6135624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Lambda Functions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069080" y="6144768"/>
            <a:ext cx="201168" cy="201168"/>
          </a:xfrm>
          <a:prstGeom prst="rect">
            <a:avLst/>
          </a:prstGeom>
          <a:solidFill>
            <a:srgbClr val="1A5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315968" y="6135624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DynamoDB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989320" y="6144768"/>
            <a:ext cx="201168" cy="201168"/>
          </a:xfrm>
          <a:prstGeom prst="rect">
            <a:avLst/>
          </a:prstGeom>
          <a:solidFill>
            <a:srgbClr val="0073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236208" y="6135624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CloudFront / S3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909560" y="6144768"/>
            <a:ext cx="201168" cy="201168"/>
          </a:xfrm>
          <a:prstGeom prst="rect">
            <a:avLst/>
          </a:prstGeom>
          <a:solidFill>
            <a:srgbClr val="A052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156448" y="6135624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API Gateway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829800" y="6144768"/>
            <a:ext cx="201168" cy="201168"/>
          </a:xfrm>
          <a:prstGeom prst="rect">
            <a:avLst/>
          </a:prstGeom>
          <a:solidFill>
            <a:srgbClr val="E85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0076688" y="6135624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SNS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50292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AWS Services Used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0080"/>
            <a:ext cx="10515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9900"/>
                </a:solidFill>
              </a:rPr>
              <a:t>All FedRAMP Authorized  •  us-east-1 commercial  •  No NAT Gateways, no always-on EC2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379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88"/>
                </a:solidFill>
              </a:rPr>
              <a:t>AWS Health Notifications Tracker  |  USPTO AWS Innovation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379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88888"/>
                </a:solidFill>
              </a:rPr>
              <a:t>April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234440"/>
            <a:ext cx="2011680" cy="347472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9184" y="128016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Service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1234440"/>
            <a:ext cx="6355080" cy="347472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86584" y="1280160"/>
            <a:ext cx="6263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Purpose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32520" y="1234440"/>
            <a:ext cx="1828800" cy="347472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87384" y="12801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FedRAMP Status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607040" y="1234440"/>
            <a:ext cx="1325880" cy="347472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61904" y="1280160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Est./mo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1581912"/>
            <a:ext cx="2011680" cy="393192"/>
          </a:xfrm>
          <a:prstGeom prst="rect">
            <a:avLst/>
          </a:prstGeom>
          <a:solidFill>
            <a:srgbClr val="F2F2F2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9184" y="1645920"/>
            <a:ext cx="19202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AWS Health API (Orgs)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31720" y="1581912"/>
            <a:ext cx="6355080" cy="393192"/>
          </a:xfrm>
          <a:prstGeom prst="rect">
            <a:avLst/>
          </a:prstGeom>
          <a:solidFill>
            <a:srgbClr val="F2F2F2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386584" y="1645920"/>
            <a:ext cx="62636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Source of all health events across all accounts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732520" y="1581912"/>
            <a:ext cx="1828800" cy="393192"/>
          </a:xfrm>
          <a:prstGeom prst="rect">
            <a:avLst/>
          </a:prstGeom>
          <a:solidFill>
            <a:srgbClr val="F2F2F2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87384" y="1645920"/>
            <a:ext cx="17373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E8E4C"/>
                </a:solidFill>
              </a:rPr>
              <a:t>FedRAMP Auth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607040" y="1581912"/>
            <a:ext cx="1325880" cy="393192"/>
          </a:xfrm>
          <a:prstGeom prst="rect">
            <a:avLst/>
          </a:prstGeom>
          <a:solidFill>
            <a:srgbClr val="F2F2F2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61904" y="1645920"/>
            <a:ext cx="12344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~$0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1975104"/>
            <a:ext cx="2011680" cy="39319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9184" y="2039112"/>
            <a:ext cx="19202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Lambda (x4)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331720" y="1975104"/>
            <a:ext cx="6355080" cy="39319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386584" y="2039112"/>
            <a:ext cx="62636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health-collector, llm-summarizer, deadline-reminder, api-handler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732520" y="1975104"/>
            <a:ext cx="1828800" cy="39319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87384" y="2039112"/>
            <a:ext cx="17373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E8E4C"/>
                </a:solidFill>
              </a:rPr>
              <a:t>FedRAMP Auth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607040" y="1975104"/>
            <a:ext cx="1325880" cy="39319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661904" y="2039112"/>
            <a:ext cx="12344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~$1–2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2368296"/>
            <a:ext cx="2011680" cy="393192"/>
          </a:xfrm>
          <a:prstGeom prst="rect">
            <a:avLst/>
          </a:prstGeom>
          <a:solidFill>
            <a:srgbClr val="F2F2F2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29184" y="2432304"/>
            <a:ext cx="19202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DynamoDB (on-demand)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331720" y="2368296"/>
            <a:ext cx="6355080" cy="393192"/>
          </a:xfrm>
          <a:prstGeom prst="rect">
            <a:avLst/>
          </a:prstGeom>
          <a:solidFill>
            <a:srgbClr val="F2F2F2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386584" y="2432304"/>
            <a:ext cx="62636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Primary store — events, status, follow-up tracking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32520" y="2368296"/>
            <a:ext cx="1828800" cy="393192"/>
          </a:xfrm>
          <a:prstGeom prst="rect">
            <a:avLst/>
          </a:prstGeom>
          <a:solidFill>
            <a:srgbClr val="F2F2F2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787384" y="2432304"/>
            <a:ext cx="17373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E8E4C"/>
                </a:solidFill>
              </a:rPr>
              <a:t>FedRAMP Auth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607040" y="2368296"/>
            <a:ext cx="1325880" cy="393192"/>
          </a:xfrm>
          <a:prstGeom prst="rect">
            <a:avLst/>
          </a:prstGeom>
          <a:solidFill>
            <a:srgbClr val="F2F2F2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661904" y="2432304"/>
            <a:ext cx="12344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~$5–10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74320" y="2761488"/>
            <a:ext cx="2011680" cy="39319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29184" y="2825496"/>
            <a:ext cx="19202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Amazon Bedrock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331720" y="2761488"/>
            <a:ext cx="6355080" cy="39319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386584" y="2825496"/>
            <a:ext cx="62636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Claude Haiku — plain-English summaries &amp; action extraction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732520" y="2761488"/>
            <a:ext cx="1828800" cy="39319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787384" y="2825496"/>
            <a:ext cx="17373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E8E4C"/>
                </a:solidFill>
              </a:rPr>
              <a:t>FedRAMP Auth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607040" y="2761488"/>
            <a:ext cx="1325880" cy="39319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661904" y="2825496"/>
            <a:ext cx="12344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~$1–2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74320" y="3154680"/>
            <a:ext cx="2011680" cy="393192"/>
          </a:xfrm>
          <a:prstGeom prst="rect">
            <a:avLst/>
          </a:prstGeom>
          <a:solidFill>
            <a:srgbClr val="F2F2F2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29184" y="3218688"/>
            <a:ext cx="19202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S3 (x2 buckets)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331720" y="3154680"/>
            <a:ext cx="6355080" cy="393192"/>
          </a:xfrm>
          <a:prstGeom prst="rect">
            <a:avLst/>
          </a:prstGeom>
          <a:solidFill>
            <a:srgbClr val="F2F2F2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386584" y="3218688"/>
            <a:ext cx="62636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Raw event archive + React SPA static assets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732520" y="3154680"/>
            <a:ext cx="1828800" cy="393192"/>
          </a:xfrm>
          <a:prstGeom prst="rect">
            <a:avLst/>
          </a:prstGeom>
          <a:solidFill>
            <a:srgbClr val="F2F2F2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787384" y="3218688"/>
            <a:ext cx="17373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E8E4C"/>
                </a:solidFill>
              </a:rPr>
              <a:t>FedRAMP Auth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0607040" y="3154680"/>
            <a:ext cx="1325880" cy="393192"/>
          </a:xfrm>
          <a:prstGeom prst="rect">
            <a:avLst/>
          </a:prstGeom>
          <a:solidFill>
            <a:srgbClr val="F2F2F2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661904" y="3218688"/>
            <a:ext cx="12344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&lt;$1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74320" y="3547872"/>
            <a:ext cx="2011680" cy="39319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29184" y="3611880"/>
            <a:ext cx="19202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CloudFront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331720" y="3547872"/>
            <a:ext cx="6355080" cy="39319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386584" y="3611880"/>
            <a:ext cx="62636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CDN for React SPA with Origin Access Control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732520" y="3547872"/>
            <a:ext cx="1828800" cy="39319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787384" y="3611880"/>
            <a:ext cx="17373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E8E4C"/>
                </a:solidFill>
              </a:rPr>
              <a:t>FedRAMP Auth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0607040" y="3547872"/>
            <a:ext cx="1325880" cy="39319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661904" y="3611880"/>
            <a:ext cx="12344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&lt;$1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74320" y="3941064"/>
            <a:ext cx="2011680" cy="393192"/>
          </a:xfrm>
          <a:prstGeom prst="rect">
            <a:avLst/>
          </a:prstGeom>
          <a:solidFill>
            <a:srgbClr val="F2F2F2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29184" y="4005072"/>
            <a:ext cx="19202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API Gateway HTTP API</a:t>
            </a:r>
          </a:p>
        </p:txBody>
      </p:sp>
      <p:sp>
        <p:nvSpPr>
          <p:cNvPr id="67" name="Rectangle 66"/>
          <p:cNvSpPr/>
          <p:nvPr/>
        </p:nvSpPr>
        <p:spPr>
          <a:xfrm>
            <a:off x="2331720" y="3941064"/>
            <a:ext cx="6355080" cy="393192"/>
          </a:xfrm>
          <a:prstGeom prst="rect">
            <a:avLst/>
          </a:prstGeom>
          <a:solidFill>
            <a:srgbClr val="F2F2F2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386584" y="4005072"/>
            <a:ext cx="62636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REST backend for the React frontend (no auth required)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732520" y="3941064"/>
            <a:ext cx="1828800" cy="393192"/>
          </a:xfrm>
          <a:prstGeom prst="rect">
            <a:avLst/>
          </a:prstGeom>
          <a:solidFill>
            <a:srgbClr val="F2F2F2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787384" y="4005072"/>
            <a:ext cx="17373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E8E4C"/>
                </a:solidFill>
              </a:rPr>
              <a:t>FedRAMP Auth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0607040" y="3941064"/>
            <a:ext cx="1325880" cy="393192"/>
          </a:xfrm>
          <a:prstGeom prst="rect">
            <a:avLst/>
          </a:prstGeom>
          <a:solidFill>
            <a:srgbClr val="F2F2F2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0661904" y="4005072"/>
            <a:ext cx="12344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~$1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74320" y="4334256"/>
            <a:ext cx="2011680" cy="39319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29184" y="4398264"/>
            <a:ext cx="19202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EventBridge Scheduler</a:t>
            </a:r>
          </a:p>
        </p:txBody>
      </p:sp>
      <p:sp>
        <p:nvSpPr>
          <p:cNvPr id="75" name="Rectangle 74"/>
          <p:cNvSpPr/>
          <p:nvPr/>
        </p:nvSpPr>
        <p:spPr>
          <a:xfrm>
            <a:off x="2331720" y="4334256"/>
            <a:ext cx="6355080" cy="39319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2386584" y="4398264"/>
            <a:ext cx="62636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rate(15 min) for collector + cron(09:00 UTC) for reminders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732520" y="4334256"/>
            <a:ext cx="1828800" cy="39319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787384" y="4398264"/>
            <a:ext cx="17373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E8E4C"/>
                </a:solidFill>
              </a:rPr>
              <a:t>FedRAMP Auth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0607040" y="4334256"/>
            <a:ext cx="1325880" cy="39319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0661904" y="4398264"/>
            <a:ext cx="12344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&lt;$1</a:t>
            </a:r>
          </a:p>
        </p:txBody>
      </p:sp>
      <p:sp>
        <p:nvSpPr>
          <p:cNvPr id="81" name="Rectangle 80"/>
          <p:cNvSpPr/>
          <p:nvPr/>
        </p:nvSpPr>
        <p:spPr>
          <a:xfrm>
            <a:off x="274320" y="4727448"/>
            <a:ext cx="2011680" cy="393192"/>
          </a:xfrm>
          <a:prstGeom prst="rect">
            <a:avLst/>
          </a:prstGeom>
          <a:solidFill>
            <a:srgbClr val="F2F2F2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29184" y="4791456"/>
            <a:ext cx="19202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SNS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331720" y="4727448"/>
            <a:ext cx="6355080" cy="393192"/>
          </a:xfrm>
          <a:prstGeom prst="rect">
            <a:avLst/>
          </a:prstGeom>
          <a:solidFill>
            <a:srgbClr val="F2F2F2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2386584" y="4791456"/>
            <a:ext cx="62636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Deadline alert email digests to the ops team</a:t>
            </a:r>
          </a:p>
        </p:txBody>
      </p:sp>
      <p:sp>
        <p:nvSpPr>
          <p:cNvPr id="85" name="Rectangle 84"/>
          <p:cNvSpPr/>
          <p:nvPr/>
        </p:nvSpPr>
        <p:spPr>
          <a:xfrm>
            <a:off x="8732520" y="4727448"/>
            <a:ext cx="1828800" cy="393192"/>
          </a:xfrm>
          <a:prstGeom prst="rect">
            <a:avLst/>
          </a:prstGeom>
          <a:solidFill>
            <a:srgbClr val="F2F2F2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787384" y="4791456"/>
            <a:ext cx="17373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E8E4C"/>
                </a:solidFill>
              </a:rPr>
              <a:t>FedRAMP Auth</a:t>
            </a:r>
          </a:p>
        </p:txBody>
      </p:sp>
      <p:sp>
        <p:nvSpPr>
          <p:cNvPr id="87" name="Rectangle 86"/>
          <p:cNvSpPr/>
          <p:nvPr/>
        </p:nvSpPr>
        <p:spPr>
          <a:xfrm>
            <a:off x="10607040" y="4727448"/>
            <a:ext cx="1325880" cy="393192"/>
          </a:xfrm>
          <a:prstGeom prst="rect">
            <a:avLst/>
          </a:prstGeom>
          <a:solidFill>
            <a:srgbClr val="F2F2F2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0661904" y="4791456"/>
            <a:ext cx="12344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&lt;$1</a:t>
            </a:r>
          </a:p>
        </p:txBody>
      </p:sp>
      <p:sp>
        <p:nvSpPr>
          <p:cNvPr id="89" name="Rectangle 88"/>
          <p:cNvSpPr/>
          <p:nvPr/>
        </p:nvSpPr>
        <p:spPr>
          <a:xfrm>
            <a:off x="274320" y="5120640"/>
            <a:ext cx="2011680" cy="39319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329184" y="5184648"/>
            <a:ext cx="19202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CloudWatch Logs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2331720" y="5120640"/>
            <a:ext cx="6355080" cy="39319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386584" y="5184648"/>
            <a:ext cx="62636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All Lambda logs with 30-day retention</a:t>
            </a:r>
          </a:p>
        </p:txBody>
      </p:sp>
      <p:sp>
        <p:nvSpPr>
          <p:cNvPr id="93" name="Rectangle 92"/>
          <p:cNvSpPr/>
          <p:nvPr/>
        </p:nvSpPr>
        <p:spPr>
          <a:xfrm>
            <a:off x="8732520" y="5120640"/>
            <a:ext cx="1828800" cy="39319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8787384" y="5184648"/>
            <a:ext cx="17373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E8E4C"/>
                </a:solidFill>
              </a:rPr>
              <a:t>FedRAMP Auth</a:t>
            </a:r>
          </a:p>
        </p:txBody>
      </p:sp>
      <p:sp>
        <p:nvSpPr>
          <p:cNvPr id="95" name="Rectangle 94"/>
          <p:cNvSpPr/>
          <p:nvPr/>
        </p:nvSpPr>
        <p:spPr>
          <a:xfrm>
            <a:off x="10607040" y="5120640"/>
            <a:ext cx="1325880" cy="39319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10661904" y="5184648"/>
            <a:ext cx="12344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&lt;$1</a:t>
            </a:r>
          </a:p>
        </p:txBody>
      </p:sp>
      <p:sp>
        <p:nvSpPr>
          <p:cNvPr id="97" name="Rectangle 96"/>
          <p:cNvSpPr/>
          <p:nvPr/>
        </p:nvSpPr>
        <p:spPr>
          <a:xfrm>
            <a:off x="274320" y="5605272"/>
            <a:ext cx="11612880" cy="384048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457200" y="564184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Total estimated monthly cost at steady state (50K events, 200 accounts, 500 Bedrock calls):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144000" y="564184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9900"/>
                </a:solidFill>
              </a:rPr>
              <a:t>~$10–15 / month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50292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0080"/>
            <a:ext cx="10515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9900"/>
                </a:solidFill>
              </a:rPr>
              <a:t>Real-time stats, urgency charts, and upcoming critical deadlines at a glance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379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88"/>
                </a:solidFill>
              </a:rPr>
              <a:t>AWS Health Notifications Tracker  |  USPTO AWS Innovation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379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88888"/>
                </a:solidFill>
              </a:rPr>
              <a:t>April 2026</a:t>
            </a:r>
          </a:p>
        </p:txBody>
      </p:sp>
      <p:pic>
        <p:nvPicPr>
          <p:cNvPr id="9" name="Picture 8" descr="01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11612880" cy="52120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74320" y="6428232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88888"/>
                </a:solidFill>
              </a:rPr>
              <a:t>Stats cards  •  Events by Service bar chart  •  Events by Urgency chart  •  Top critical events table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50292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Notifications List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0080"/>
            <a:ext cx="10515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9900"/>
                </a:solidFill>
              </a:rPr>
              <a:t>All 200 accounts in one sortable, searchable table — with deadline countdowns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379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88"/>
                </a:solidFill>
              </a:rPr>
              <a:t>AWS Health Notifications Tracker  |  USPTO AWS Innovation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379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88888"/>
                </a:solidFill>
              </a:rPr>
              <a:t>April 2026</a:t>
            </a:r>
          </a:p>
        </p:txBody>
      </p:sp>
      <p:pic>
        <p:nvPicPr>
          <p:cNvPr id="9" name="Picture 8" descr="02_notification_l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11612880" cy="52120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74320" y="6428232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88888"/>
                </a:solidFill>
              </a:rPr>
              <a:t>Search  •  Filter by Service / Urgency / Status / Account  •  Deadline countdown  •  CSV export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50292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Intelligent Filtering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0080"/>
            <a:ext cx="10515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9900"/>
                </a:solidFill>
              </a:rPr>
              <a:t>Instantly surface Critical events across all accounts — filter by any dimension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379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88"/>
                </a:solidFill>
              </a:rPr>
              <a:t>AWS Health Notifications Tracker  |  USPTO AWS Innovation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379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88888"/>
                </a:solidFill>
              </a:rPr>
              <a:t>April 2026</a:t>
            </a:r>
          </a:p>
        </p:txBody>
      </p:sp>
      <p:pic>
        <p:nvPicPr>
          <p:cNvPr id="9" name="Picture 8" descr="03_notification_list_filte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11612880" cy="52120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74320" y="6428232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88888"/>
                </a:solidFill>
              </a:rPr>
              <a:t>Filter to Critical urgency — all accounts — sorted by soonest deadline first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50292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AI-Generated Event Detail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0080"/>
            <a:ext cx="10515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9900"/>
                </a:solidFill>
              </a:rPr>
              <a:t>Amazon Bedrock (Claude Haiku) turns raw Health API events into actionable guidance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379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88"/>
                </a:solidFill>
              </a:rPr>
              <a:t>AWS Health Notifications Tracker  |  USPTO AWS Innovation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379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88888"/>
                </a:solidFill>
              </a:rPr>
              <a:t>April 2026</a:t>
            </a:r>
          </a:p>
        </p:txBody>
      </p:sp>
      <p:pic>
        <p:nvPicPr>
          <p:cNvPr id="9" name="Picture 8" descr="04_notification_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7132320" cy="521208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7589520" y="1207008"/>
            <a:ext cx="4343400" cy="1188720"/>
          </a:xfrm>
          <a:prstGeom prst="rect">
            <a:avLst/>
          </a:prstGeom>
          <a:solidFill>
            <a:srgbClr val="0073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26679" y="1280160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Plain-English Summary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6679" y="1627632"/>
            <a:ext cx="411480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2–3 sentence stakeholder-ready description generated by Claude Haiku via Amazon Bedrock.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89520" y="2468880"/>
            <a:ext cx="4343400" cy="1188720"/>
          </a:xfrm>
          <a:prstGeom prst="rect">
            <a:avLst/>
          </a:prstGeom>
          <a:solidFill>
            <a:srgbClr val="1E8E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26679" y="2542032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Recommended Actions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26679" y="2889504"/>
            <a:ext cx="411480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3–5 specific, step-by-step action items extracted from the raw event description.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89520" y="3730752"/>
            <a:ext cx="4343400" cy="118872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26679" y="3803904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Urgency + Deadline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26679" y="4151376"/>
            <a:ext cx="411480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Auto-classified: Critical / High / Medium / Low. Deadline extracted in ISO 8601 format.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589520" y="4992624"/>
            <a:ext cx="4343400" cy="118872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26679" y="5065776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Follow-up Tracker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26679" y="5413248"/>
            <a:ext cx="411480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Assign an owner, set status (Pending / In Progress / Resolved), add notes. Saved to DynamoDB.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50292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Security &amp; Compliance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0080"/>
            <a:ext cx="10515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9900"/>
                </a:solidFill>
              </a:rPr>
              <a:t>FedRAMP Authorized services only  •  IAM least-privilege  •  No data leaves us-east-1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379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88"/>
                </a:solidFill>
              </a:rPr>
              <a:t>AWS Health Notifications Tracker  |  USPTO AWS Innovation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379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88888"/>
                </a:solidFill>
              </a:rPr>
              <a:t>April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234440"/>
            <a:ext cx="91440" cy="96012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1234440"/>
            <a:ext cx="11475720" cy="960120"/>
          </a:xfrm>
          <a:prstGeom prst="rect">
            <a:avLst/>
          </a:prstGeom>
          <a:solidFill>
            <a:srgbClr val="F2F2F2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3075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32F3E"/>
                </a:solidFill>
              </a:rPr>
              <a:t>FedRAMP Authorized Services Only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62763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Every AWS service used — Lambda, DynamoDB, S3, CloudFront, API Gateway, Bedrock, EventBridge, SNS, CloudWatch — is FedRAMP Authorized in us-east-1 commercial.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2267711"/>
            <a:ext cx="91440" cy="96012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5760" y="2267711"/>
            <a:ext cx="11475720" cy="960120"/>
          </a:xfrm>
          <a:prstGeom prst="rect">
            <a:avLst/>
          </a:prstGeom>
          <a:solidFill>
            <a:srgbClr val="F2F2F2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2340863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32F3E"/>
                </a:solidFill>
              </a:rPr>
              <a:t>IAM Least-Privilege Roles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660903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Each of the four Lambda functions has a dedicated IAM execution role scoped to only the exact actions and resources it requires. No wildcard actions, no shared roles.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3300982"/>
            <a:ext cx="91440" cy="96012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" y="3300982"/>
            <a:ext cx="11475720" cy="960120"/>
          </a:xfrm>
          <a:prstGeom prst="rect">
            <a:avLst/>
          </a:prstGeom>
          <a:solidFill>
            <a:srgbClr val="F2F2F2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3374134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32F3E"/>
                </a:solidFill>
              </a:rPr>
              <a:t>Encryption at Rest &amp; in Transit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694174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DynamoDB tables encrypted with AWS-managed keys. S3 buckets use S3-managed encryption. All API traffic uses TLS 1.2+. CloudFront enforces HTTPS redirect.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4334253"/>
            <a:ext cx="91440" cy="96012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4334253"/>
            <a:ext cx="11475720" cy="960120"/>
          </a:xfrm>
          <a:prstGeom prst="rect">
            <a:avLst/>
          </a:prstGeom>
          <a:solidFill>
            <a:srgbClr val="F2F2F2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4407405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32F3E"/>
                </a:solidFill>
              </a:rPr>
              <a:t>No Public Access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727445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S3 frontend bucket is private — served exclusively through CloudFront with Origin Access Control. Archive S3 bucket blocks all public access. No public DynamoDB endpoints.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5367524"/>
            <a:ext cx="91440" cy="96012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5760" y="5367524"/>
            <a:ext cx="11475720" cy="960120"/>
          </a:xfrm>
          <a:prstGeom prst="rect">
            <a:avLst/>
          </a:prstGeom>
          <a:solidFill>
            <a:srgbClr val="F2F2F2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5440676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32F3E"/>
                </a:solidFill>
              </a:rPr>
              <a:t>Audit &amp; Observability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5760716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All Lambda invocations log to CloudWatch with 30-day retention. DynamoDB Point-in-Time Recovery enabled. EventBridge Scheduler retries failed Lambda invocations automatically.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50292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Roadmap &amp; Next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0080"/>
            <a:ext cx="10515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9900"/>
                </a:solidFill>
              </a:rPr>
              <a:t>Phase 2 enhancements to further reduce operational toil for USPTO cloud teams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379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88"/>
                </a:solidFill>
              </a:rPr>
              <a:t>AWS Health Notifications Tracker  |  USPTO AWS Innovation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379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88888"/>
                </a:solidFill>
              </a:rPr>
              <a:t>April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261872"/>
            <a:ext cx="3840480" cy="438912"/>
          </a:xfrm>
          <a:prstGeom prst="rect">
            <a:avLst/>
          </a:prstGeom>
          <a:solidFill>
            <a:srgbClr val="1E8E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" y="1307592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Phase 1  —  Complete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700784"/>
            <a:ext cx="3840480" cy="4526280"/>
          </a:xfrm>
          <a:prstGeom prst="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1938528"/>
            <a:ext cx="109728" cy="109728"/>
          </a:xfrm>
          <a:prstGeom prst="rect">
            <a:avLst/>
          </a:prstGeom>
          <a:solidFill>
            <a:srgbClr val="1E8E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" y="182880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Automated event collection across all 200 accounts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990088"/>
            <a:ext cx="109728" cy="109728"/>
          </a:xfrm>
          <a:prstGeom prst="rect">
            <a:avLst/>
          </a:prstGeom>
          <a:solidFill>
            <a:srgbClr val="1E8E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288036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AI summaries and action items via Amazon Bedrock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4041648"/>
            <a:ext cx="109728" cy="109728"/>
          </a:xfrm>
          <a:prstGeom prst="rect">
            <a:avLst/>
          </a:prstGeom>
          <a:solidFill>
            <a:srgbClr val="1E8E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393192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React dashboard: stats, filtering, search, CSV export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5093208"/>
            <a:ext cx="109728" cy="109728"/>
          </a:xfrm>
          <a:prstGeom prst="rect">
            <a:avLst/>
          </a:prstGeom>
          <a:solidFill>
            <a:srgbClr val="1E8E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" y="498348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Follow-up ownership tracking with deadline reminders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70248" y="1261872"/>
            <a:ext cx="3840480" cy="438912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79976" y="1307592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Phase 2  —  Near-term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70248" y="1700784"/>
            <a:ext cx="3840480" cy="4526280"/>
          </a:xfrm>
          <a:prstGeom prst="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07408" y="1938528"/>
            <a:ext cx="109728" cy="109728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17720" y="182880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Slack / Teams integration for real-time notifications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07408" y="2990088"/>
            <a:ext cx="109728" cy="109728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17720" y="288036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ServiceNow ticketing — auto-create incident for Critical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07408" y="4041648"/>
            <a:ext cx="109728" cy="109728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17720" y="393192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Cognito / SSO authentication when federation available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407408" y="5093208"/>
            <a:ext cx="109728" cy="109728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17720" y="498348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Multi-region failover support (us-west-2)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66176" y="1261872"/>
            <a:ext cx="3840480" cy="438912"/>
          </a:xfrm>
          <a:prstGeom prst="rect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75904" y="1307592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Phase 3  —  Strategic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66176" y="1700784"/>
            <a:ext cx="3840480" cy="4526280"/>
          </a:xfrm>
          <a:prstGeom prst="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403336" y="1938528"/>
            <a:ext cx="109728" cy="109728"/>
          </a:xfrm>
          <a:prstGeom prst="rect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13648" y="182880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AWS Systems Manager automated remediation runbooks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403336" y="2990088"/>
            <a:ext cx="109728" cy="109728"/>
          </a:xfrm>
          <a:prstGeom prst="rect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13648" y="288036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Account tag-based team ownership routing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403336" y="4041648"/>
            <a:ext cx="109728" cy="109728"/>
          </a:xfrm>
          <a:prstGeom prst="rect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13648" y="393192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Historical trend analysis via Bedrock insights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403336" y="5093208"/>
            <a:ext cx="109728" cy="109728"/>
          </a:xfrm>
          <a:prstGeom prst="rect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13648" y="498348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USPTO ITSM / CMDB integration for asset correlation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4320" y="6428232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88888"/>
                </a:solidFill>
              </a:rPr>
              <a:t>Repository: github.com/saspto/aws-health-notifications-tracker     Live app: https://d2vuz8nfxuvkbe.cloudfront.net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